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11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58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functions grouped by workflow step: load, select, combine, aggregate.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chart is a plot call plus a few set_ calls on the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756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B3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38544" y="571500"/>
            <a:ext cx="1470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B2B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42736" y="571500"/>
            <a:ext cx="10679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B3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100" y="944880"/>
            <a:ext cx="167640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36" dirty="0">
                <a:solidFill>
                  <a:srgbClr val="6B3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→ filter → combine → aggregate</a:t>
            </a:r>
            <a:r>
              <a:rPr lang="en-US" sz="3600" b="1" kern="0" spc="-36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~30 calls cover most analyses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00100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&amp; inspect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100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(path)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0100" y="277558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 CSV into a DataFrame (also read_excel, read_parquet)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0100" y="340423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/ 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0100" y="371475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/ last n rows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409575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40626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Dtypes &amp; nulls / summary statistics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" y="478726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0100" y="509778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(rows, cols) and column names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0100" y="547878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00100" y="578929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of each value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0100" y="617029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nunique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0100" y="648081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/ list of distinct values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" y="686181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().sum()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00100" y="717232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per column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" y="755332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to_datetime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(df["d"]).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.year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" y="7863840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dates, then extract year, month, weekday…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76825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6825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 &amp; filter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076825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df[["a", "b"]]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076825" y="277558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subset of columns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6825" y="315658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 == 1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076825" y="346710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where a condition holds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76825" y="384810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df[(df.a &gt; 0) 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(df.b == 0)]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076825" y="415861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conditions with &amp; (and), | (or), ~ (not)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76825" y="478726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df[df["x"].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(values)]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076825" y="509778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whose value is in a list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76825" y="547878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[mask, "x"] / 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iloc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[:5]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076825" y="578929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label / by position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76825" y="617029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("x &gt; 0 and y == 'A'")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076825" y="648081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with a readable string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76825" y="686181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(columns=["a"])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076825" y="717232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columns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76825" y="755332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5076825" y="786384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 / incomplete rows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353550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353550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Combine &amp; reshape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353550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(b, on="id", how="left")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353550" y="277558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SQL-style join; how = inner, left, right, outer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353550" y="315658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([a, b])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353550" y="346710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DataFrames on top of each other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353550" y="384810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(index=, values=)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9353550" y="415861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→ wide summary table (also columns=, aggfunc=)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353550" y="478726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(id_vars=["id"])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353550" y="509778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→ long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353550" y="547878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("list_col")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9353550" y="578929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list element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353550" y="6170295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("x", ascending=False)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9353550" y="675322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rows by one or more columns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353550" y="7134225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set_index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("id") / . 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353550" y="771715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column to / from the index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353550" y="809815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(columns={"a": "b"})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9353550" y="840867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columns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3630275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3630275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Transform &amp; aggregate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13630275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("k")["x"].sum()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3630275" y="277558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group (sum, mean, count, max, </a:t>
            </a:r>
            <a:r>
              <a:rPr lang="en-US" sz="1500" dirty="0" err="1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nunique</a:t>
            </a: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unique, min)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3630275" y="340423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(total=("x", "sum"), ...)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3630275" y="371475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named aggregations at once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3630275" y="409575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("nunique")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3630275" y="440626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result broadcast back to every row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3630275" y="478726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df["k"].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(dict_or_series)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13630275" y="5097780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 value per row, e.g. a groupby result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3630275" y="572643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(func)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3630275" y="603694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function per value (axis=1: per row)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13630275" y="641794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(cond, a, b) / np.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3630275" y="672846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 column; select for many conditions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13630275" y="710946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13630275" y="741997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 / previous row’s value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13630275" y="780097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qcut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10) / pd.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bins)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3630275" y="811149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Equal-size buckets (deciles) / fixed bins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3630275" y="849249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3630275" y="880300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missing values / change dtype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17275969" y="9761220"/>
            <a:ext cx="288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1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756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B3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38544" y="571500"/>
            <a:ext cx="1470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B2B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42736" y="571500"/>
            <a:ext cx="167207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B3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100" y="944880"/>
            <a:ext cx="167640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36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with types, parametrization and styles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00100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 up the figure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100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0100" y="277558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0100" y="3156585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subplots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(figsize=(10, 6))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0100" y="373951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figure with one set of axes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412051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subplots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(1, 2)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43103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of charts; use axes[0], axes[1]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" y="481203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ax2 = 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twinx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0100" y="512254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y-axis sharing the same 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0100" y="550354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tight_layout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00100" y="581406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labels from overlapping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0100" y="619506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savefig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("chart.png", dpi=200)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0100" y="650557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file (before show)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" y="688657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 err="1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650" b="1" dirty="0" err="1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00100" y="719709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legend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76825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6825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Chart types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076825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076825" y="277558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chart: trends over time, cumulative curves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76825" y="340423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h) / 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barh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(y, w)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076825" y="3714750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/ horizontal bars; left= or bottom= to stack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76825" y="434340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y, s=, c=)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076825" y="465391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between two variables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76825" y="503491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bins=20)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076825" y="534543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one variable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76825" y="572643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([a, b])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076825" y="603694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spread and outliers across groups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76825" y="641794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(sizes, labels=)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076825" y="672846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total (use sparingly)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76825" y="710946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fill_between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y1, y2)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5076825" y="741997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area / range band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76825" y="780097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(kind="bar", ax=ax)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5076825" y="811149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straight from pandas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353550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53550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Labels &amp; axes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353550" y="246507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set_title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("…")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353550" y="277558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title (plt.title)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353550" y="315658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set_xlabel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set_ylabel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9353550" y="346710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labels (plt.xlabel / plt.ylabel)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53550" y="384810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set_xlim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100) / 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set_ylim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9353550" y="415861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range (plt.xlim / plt.ylim)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353550" y="453961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set_xticks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(pos, labels=)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353550" y="485013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positions and labels; [] hides them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353550" y="5231130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tick_params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(axis="x", rotation=45)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9353550" y="581406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or resize tick labels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353550" y="619506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set_yscale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("log")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9353550" y="650557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scale for skewed data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353550" y="688657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invert_yaxis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9353550" y="719709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bar on top in barh / waterfall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353550" y="757809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ax.yaxis.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set_major_formatter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(…)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9353550" y="7888605"/>
            <a:ext cx="39733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ticks as %, €, thousands (e.g. PercentFormatter)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3630275" y="1813560"/>
            <a:ext cx="3857625" cy="38100"/>
          </a:xfrm>
          <a:prstGeom prst="rect">
            <a:avLst/>
          </a:prstGeom>
          <a:solidFill>
            <a:srgbClr val="21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3630275" y="1985010"/>
            <a:ext cx="397335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21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Style &amp; annotate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13630275" y="2465070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color=, alpha=, label=, linewidth=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3630275" y="304800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keyword arguments on any plot call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3630275" y="342900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(loc="upper left")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3630275" y="373951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series labels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3630275" y="412051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bar_label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(bars, fmt="%.0f")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3630275" y="443103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labels on top of / inside bars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3630275" y="481203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axhline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(y) / 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axvline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3630275" y="512254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line: target, average, cut-off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3630275" y="550354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("text", xy=, xytext=)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3630275" y="581406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 a point, optionally with an arrow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13630275" y="6195060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y, "text")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3630275" y="6505575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text at data coordinates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3630275" y="6886575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(axis="y", alpha=0.3)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3630275" y="719709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gridlines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13630275" y="7578090"/>
            <a:ext cx="397335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spines 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[["top", "right"]].set_visible(False)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3630275" y="8161020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chart borders for a cleaner look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7275969" y="9761220"/>
            <a:ext cx="288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1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CA352636-A228-998D-B963-3691C0D698ED}"/>
              </a:ext>
            </a:extLst>
          </p:cNvPr>
          <p:cNvSpPr/>
          <p:nvPr/>
        </p:nvSpPr>
        <p:spPr>
          <a:xfrm>
            <a:off x="766763" y="7566826"/>
            <a:ext cx="42433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323"/>
              </a:lnSpc>
              <a:buNone/>
            </a:pP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650" b="1" dirty="0">
                <a:solidFill>
                  <a:srgbClr val="6B3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650" dirty="0">
                <a:solidFill>
                  <a:srgbClr val="21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564FD9E6-2B4D-4F26-4025-81229F6807D7}"/>
              </a:ext>
            </a:extLst>
          </p:cNvPr>
          <p:cNvSpPr/>
          <p:nvPr/>
        </p:nvSpPr>
        <p:spPr>
          <a:xfrm>
            <a:off x="766763" y="7877341"/>
            <a:ext cx="42433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figure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Microsoft Office PowerPoint</Application>
  <PresentationFormat>Custom</PresentationFormat>
  <Paragraphs>152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Rens van Haasteren</cp:lastModifiedBy>
  <cp:revision>4</cp:revision>
  <dcterms:created xsi:type="dcterms:W3CDTF">2026-10-07T16:09:07Z</dcterms:created>
  <dcterms:modified xsi:type="dcterms:W3CDTF">2026-10-07T16:13:30Z</dcterms:modified>
</cp:coreProperties>
</file>